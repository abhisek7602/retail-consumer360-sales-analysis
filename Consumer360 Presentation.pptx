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347" autoAdjust="0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9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56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B1D2"/>
          </a:solidFill>
          <a:ln w="12700">
            <a:solidFill>
              <a:srgbClr val="0EB1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457200"/>
            <a:ext cx="109728" cy="109728"/>
          </a:xfrm>
          <a:prstGeom prst="ellipse">
            <a:avLst/>
          </a:prstGeom>
          <a:solidFill>
            <a:srgbClr val="0EB1D2">
              <a:alpha val="40000"/>
            </a:srgbClr>
          </a:solidFill>
          <a:ln w="12700">
            <a:solidFill>
              <a:srgbClr val="0EB1D2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457200"/>
            <a:ext cx="109728" cy="109728"/>
          </a:xfrm>
          <a:prstGeom prst="ellipse">
            <a:avLst/>
          </a:prstGeom>
          <a:solidFill>
            <a:srgbClr val="0EB1D2">
              <a:alpha val="40000"/>
            </a:srgbClr>
          </a:solidFill>
          <a:ln w="12700">
            <a:solidFill>
              <a:srgbClr val="0EB1D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457200"/>
            <a:ext cx="109728" cy="109728"/>
          </a:xfrm>
          <a:prstGeom prst="ellipse">
            <a:avLst/>
          </a:prstGeom>
          <a:solidFill>
            <a:srgbClr val="0EB1D2">
              <a:alpha val="40000"/>
            </a:srgbClr>
          </a:solidFill>
          <a:ln w="12700">
            <a:solidFill>
              <a:srgbClr val="0EB1D2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457200"/>
            <a:ext cx="109728" cy="109728"/>
          </a:xfrm>
          <a:prstGeom prst="ellipse">
            <a:avLst/>
          </a:prstGeom>
          <a:solidFill>
            <a:srgbClr val="0EB1D2">
              <a:alpha val="40000"/>
            </a:srgbClr>
          </a:solidFill>
          <a:ln w="12700">
            <a:solidFill>
              <a:srgbClr val="0EB1D2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0" y="1005840"/>
            <a:ext cx="109728" cy="109728"/>
          </a:xfrm>
          <a:prstGeom prst="ellipse">
            <a:avLst/>
          </a:prstGeom>
          <a:solidFill>
            <a:srgbClr val="0EB1D2">
              <a:alpha val="40000"/>
            </a:srgbClr>
          </a:solidFill>
          <a:ln w="12700">
            <a:solidFill>
              <a:srgbClr val="0EB1D2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1005840"/>
            <a:ext cx="109728" cy="109728"/>
          </a:xfrm>
          <a:prstGeom prst="ellipse">
            <a:avLst/>
          </a:prstGeom>
          <a:solidFill>
            <a:srgbClr val="0EB1D2">
              <a:alpha val="40000"/>
            </a:srgbClr>
          </a:solidFill>
          <a:ln w="12700">
            <a:solidFill>
              <a:srgbClr val="0EB1D2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1005840"/>
            <a:ext cx="109728" cy="109728"/>
          </a:xfrm>
          <a:prstGeom prst="ellipse">
            <a:avLst/>
          </a:prstGeom>
          <a:solidFill>
            <a:srgbClr val="0EB1D2">
              <a:alpha val="40000"/>
            </a:srgbClr>
          </a:solidFill>
          <a:ln w="12700">
            <a:solidFill>
              <a:srgbClr val="0EB1D2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0" y="1005840"/>
            <a:ext cx="109728" cy="109728"/>
          </a:xfrm>
          <a:prstGeom prst="ellipse">
            <a:avLst/>
          </a:prstGeom>
          <a:solidFill>
            <a:srgbClr val="0EB1D2">
              <a:alpha val="40000"/>
            </a:srgbClr>
          </a:solidFill>
          <a:ln w="12700">
            <a:solidFill>
              <a:srgbClr val="0EB1D2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1554480"/>
            <a:ext cx="109728" cy="109728"/>
          </a:xfrm>
          <a:prstGeom prst="ellipse">
            <a:avLst/>
          </a:prstGeom>
          <a:solidFill>
            <a:srgbClr val="0EB1D2">
              <a:alpha val="40000"/>
            </a:srgbClr>
          </a:solidFill>
          <a:ln w="12700">
            <a:solidFill>
              <a:srgbClr val="0EB1D2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1554480"/>
            <a:ext cx="109728" cy="109728"/>
          </a:xfrm>
          <a:prstGeom prst="ellipse">
            <a:avLst/>
          </a:prstGeom>
          <a:solidFill>
            <a:srgbClr val="0EB1D2">
              <a:alpha val="40000"/>
            </a:srgbClr>
          </a:solidFill>
          <a:ln w="12700">
            <a:solidFill>
              <a:srgbClr val="0EB1D2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554480"/>
            <a:ext cx="109728" cy="109728"/>
          </a:xfrm>
          <a:prstGeom prst="ellipse">
            <a:avLst/>
          </a:prstGeom>
          <a:solidFill>
            <a:srgbClr val="0EB1D2">
              <a:alpha val="40000"/>
            </a:srgbClr>
          </a:solidFill>
          <a:ln w="12700">
            <a:solidFill>
              <a:srgbClr val="0EB1D2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1554480"/>
            <a:ext cx="109728" cy="109728"/>
          </a:xfrm>
          <a:prstGeom prst="ellipse">
            <a:avLst/>
          </a:prstGeom>
          <a:solidFill>
            <a:srgbClr val="0EB1D2">
              <a:alpha val="40000"/>
            </a:srgbClr>
          </a:solidFill>
          <a:ln w="12700">
            <a:solidFill>
              <a:srgbClr val="0EB1D2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914400"/>
            <a:ext cx="2286000" cy="320040"/>
          </a:xfrm>
          <a:prstGeom prst="rect">
            <a:avLst/>
          </a:prstGeom>
          <a:solidFill>
            <a:srgbClr val="0EB1D2"/>
          </a:solidFill>
          <a:ln w="12700">
            <a:solidFill>
              <a:srgbClr val="0EB1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914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</a:rPr>
              <a:t>PORTFOLIO PROJECT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14173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Consumer360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502920" y="24231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9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Segmentation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9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Market Basket Analysis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02920" y="3429000"/>
            <a:ext cx="41148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478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·  Python  ·  Power BI  ·  PostgreSQL  ·  mlxtend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389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Portfolio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B1D2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What is Consumer360?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548640" cy="36576"/>
          </a:xfrm>
          <a:prstGeom prst="rect">
            <a:avLst/>
          </a:prstGeom>
          <a:solidFill>
            <a:srgbClr val="0EB1D2"/>
          </a:solidFill>
          <a:ln w="12700">
            <a:solidFill>
              <a:srgbClr val="0EB1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</a:rPr>
              <a:t>A comprehensive end-to-end analytics project built on a national retail chain's transactional data.</a:t>
            </a:r>
            <a:endParaRPr lang="en-US" sz="1250" dirty="0"/>
          </a:p>
          <a:p>
            <a:pPr marL="0" indent="0">
              <a:lnSpc>
                <a:spcPct val="145000"/>
              </a:lnSpc>
              <a:buNone/>
            </a:pPr>
            <a:endParaRPr lang="en-US" sz="12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</a:rPr>
              <a:t>The solution identifies high-value customers (Whales) versus churn risks using industry-standard RFM segmentation and uncovers non-obvious product affinity patterns through Market Basket Analysis.</a:t>
            </a:r>
            <a:endParaRPr lang="en-US" sz="1250" dirty="0"/>
          </a:p>
          <a:p>
            <a:pPr marL="0" indent="0">
              <a:lnSpc>
                <a:spcPct val="145000"/>
              </a:lnSpc>
              <a:buNone/>
            </a:pPr>
            <a:endParaRPr lang="en-US" sz="12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</a:rPr>
              <a:t>The final output is a two-page interactive Power BI dashboard, backed by a fully automated ETL pipeline.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54880" y="804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Key Objectives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1207008"/>
            <a:ext cx="548640" cy="36576"/>
          </a:xfrm>
          <a:prstGeom prst="rect">
            <a:avLst/>
          </a:prstGeom>
          <a:solidFill>
            <a:srgbClr val="0EB1D2"/>
          </a:solidFill>
          <a:ln w="12700">
            <a:solidFill>
              <a:srgbClr val="0EB1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37160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71600"/>
            <a:ext cx="64008" cy="594360"/>
          </a:xfrm>
          <a:prstGeom prst="rect">
            <a:avLst/>
          </a:prstGeom>
          <a:solidFill>
            <a:srgbClr val="0EB1D2"/>
          </a:solidFill>
          <a:ln w="12700">
            <a:solidFill>
              <a:srgbClr val="0EB1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37160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</a:rPr>
              <a:t>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1417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Star Schema data warehouse from raw transactional logs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2066544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066544"/>
            <a:ext cx="64008" cy="594360"/>
          </a:xfrm>
          <a:prstGeom prst="rect">
            <a:avLst/>
          </a:prstGeom>
          <a:solidFill>
            <a:srgbClr val="0EB1D2"/>
          </a:solidFill>
          <a:ln w="12700">
            <a:solidFill>
              <a:srgbClr val="0EB1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06654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</a:rPr>
              <a:t>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9240" y="211226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RFM scoring (1–5 scale) segmenting customers into 4 tiers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2761488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761488"/>
            <a:ext cx="64008" cy="594360"/>
          </a:xfrm>
          <a:prstGeom prst="rect">
            <a:avLst/>
          </a:prstGeom>
          <a:solidFill>
            <a:srgbClr val="0EB1D2"/>
          </a:solidFill>
          <a:ln w="12700">
            <a:solidFill>
              <a:srgbClr val="0EB1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76148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</a:rPr>
              <a:t>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28072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Market Basket Analysis for product affinity patterns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3456432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456432"/>
            <a:ext cx="64008" cy="594360"/>
          </a:xfrm>
          <a:prstGeom prst="rect">
            <a:avLst/>
          </a:prstGeom>
          <a:solidFill>
            <a:srgbClr val="0EB1D2"/>
          </a:solidFill>
          <a:ln w="12700">
            <a:solidFill>
              <a:srgbClr val="0EB1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456432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49240" y="35021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Power BI dashboard with Row Level Security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4151376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4151376"/>
            <a:ext cx="64008" cy="594360"/>
          </a:xfrm>
          <a:prstGeom prst="rect">
            <a:avLst/>
          </a:prstGeom>
          <a:solidFill>
            <a:srgbClr val="0EB1D2"/>
          </a:solidFill>
          <a:ln w="12700">
            <a:solidFill>
              <a:srgbClr val="0EB1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4151376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</a:rPr>
              <a:t>⑤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49240" y="419709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Automated ETL pipeline with end-to-end validation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B1D2"/>
                </a:solidFill>
              </a:rPr>
              <a:t>TECH STACK &amp;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920240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192024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</a:rPr>
              <a:t>PostgreSQL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C9EBF5"/>
                </a:solidFill>
              </a:rPr>
              <a:t>Star Schema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C9EBF5"/>
                </a:solidFill>
              </a:rPr>
              <a:t>Data Warehouse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14600" y="822960"/>
            <a:ext cx="1920240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EB1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822960"/>
            <a:ext cx="1920240" cy="64008"/>
          </a:xfrm>
          <a:prstGeom prst="rect">
            <a:avLst/>
          </a:prstGeom>
          <a:solidFill>
            <a:srgbClr val="0EB1D2"/>
          </a:solidFill>
          <a:ln w="12700">
            <a:solidFill>
              <a:srgbClr val="0EB1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B1D2"/>
                </a:solidFill>
              </a:rPr>
              <a:t>Python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14600" y="1600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C9EBF5"/>
                </a:solidFill>
              </a:rPr>
              <a:t>Pandas, NumPy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C9EBF5"/>
                </a:solidFill>
              </a:rPr>
              <a:t>mlxtend, SQLAlchemy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1920240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22960"/>
            <a:ext cx="19202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</a:rPr>
              <a:t>Power BI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1600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C9EBF5"/>
                </a:solidFill>
              </a:rPr>
              <a:t>DAX Measures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C9EBF5"/>
                </a:solidFill>
              </a:rPr>
              <a:t>Interactive Dashboard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12280" y="822960"/>
            <a:ext cx="1920240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E872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822960"/>
            <a:ext cx="1920240" cy="64008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24A"/>
                </a:solidFill>
              </a:rPr>
              <a:t>ETL.py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12280" y="1600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C9EBF5"/>
                </a:solidFill>
              </a:rPr>
              <a:t>Automated Pipeline</a:t>
            </a:r>
            <a:endParaRPr lang="en-US" sz="11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50" dirty="0">
                <a:solidFill>
                  <a:srgbClr val="C9EBF5"/>
                </a:solidFill>
              </a:rPr>
              <a:t>Scheduled Execution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FB3C8"/>
                </a:solidFill>
              </a:rPr>
              <a:t>RAW CSV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0" y="3264408"/>
            <a:ext cx="548640" cy="54864"/>
          </a:xfrm>
          <a:prstGeom prst="rect">
            <a:avLst/>
          </a:prstGeom>
          <a:solidFill>
            <a:srgbClr val="7FB3C8"/>
          </a:solidFill>
          <a:ln w="12700">
            <a:solidFill>
              <a:srgbClr val="7FB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FB3C8"/>
                </a:solidFill>
              </a:rPr>
              <a:t>STAR SCHEMA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31920" y="3264408"/>
            <a:ext cx="548640" cy="54864"/>
          </a:xfrm>
          <a:prstGeom prst="rect">
            <a:avLst/>
          </a:prstGeom>
          <a:solidFill>
            <a:srgbClr val="7FB3C8"/>
          </a:solidFill>
          <a:ln w="12700">
            <a:solidFill>
              <a:srgbClr val="7FB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3108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FB3C8"/>
                </a:solidFill>
              </a:rPr>
              <a:t>RFM + MBA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3264408"/>
            <a:ext cx="548640" cy="54864"/>
          </a:xfrm>
          <a:prstGeom prst="rect">
            <a:avLst/>
          </a:prstGeom>
          <a:solidFill>
            <a:srgbClr val="7FB3C8"/>
          </a:solidFill>
          <a:ln w="12700">
            <a:solidFill>
              <a:srgbClr val="7FB3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FB3C8"/>
                </a:solidFill>
              </a:rPr>
              <a:t>POWER BI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23760" y="3264408"/>
            <a:ext cx="457200" cy="54864"/>
          </a:xfrm>
          <a:prstGeom prst="rect">
            <a:avLst/>
          </a:prstGeom>
          <a:solidFill>
            <a:srgbClr val="7FB3C8"/>
          </a:solidFill>
          <a:ln w="12700">
            <a:solidFill>
              <a:srgbClr val="7FB3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3108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FB3C8"/>
                </a:solidFill>
              </a:rPr>
              <a:t>AUTOMATION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389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B3C8"/>
                </a:solidFill>
              </a:rPr>
              <a:t>Dataset: Kaggle — Online Retail II UCI  |  10,000 transactions  |  283 unique customers  |  336 invoices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B1D2"/>
                </a:solidFill>
              </a:rPr>
              <a:t>DATA ENGINEERING — STAR SCHEMA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0" y="1920240"/>
            <a:ext cx="2743200" cy="1645920"/>
          </a:xfrm>
          <a:prstGeom prst="rect">
            <a:avLst/>
          </a:prstGeom>
          <a:solidFill>
            <a:srgbClr val="0A1628"/>
          </a:solidFill>
          <a:ln w="25400">
            <a:solidFill>
              <a:srgbClr val="0EB1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B1D2"/>
                </a:solidFill>
              </a:rPr>
              <a:t>fact_sales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2331720"/>
            <a:ext cx="2743200" cy="27432"/>
          </a:xfrm>
          <a:prstGeom prst="rect">
            <a:avLst/>
          </a:prstGeom>
          <a:solidFill>
            <a:srgbClr val="0EB1D2"/>
          </a:solidFill>
          <a:ln w="12700">
            <a:solidFill>
              <a:srgbClr val="0EB1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239572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C9EBF5"/>
                </a:solidFill>
              </a:rPr>
              <a:t>invoice_no, customer_key
product_key, date_key
quantity, price, revenue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2286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777240"/>
            <a:ext cx="22860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777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dim_customer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" y="116128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customer_key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country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743200"/>
            <a:ext cx="2743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92240" y="777240"/>
            <a:ext cx="2286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777240"/>
            <a:ext cx="22860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777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dim_product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116128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product_key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product_name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2743200"/>
            <a:ext cx="2743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82880" y="3474720"/>
            <a:ext cx="2286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3474720"/>
            <a:ext cx="22860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34747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dim_date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" y="38587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date_key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year, month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day, quarter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3383280"/>
            <a:ext cx="2743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492240" y="3474720"/>
            <a:ext cx="2286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92240" y="3474720"/>
            <a:ext cx="22860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4747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dim_country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38587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country_key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country_name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3383280"/>
            <a:ext cx="2743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FB3C8"/>
                </a:solidFill>
              </a:rPr>
              <a:t>Star Schema enables time-intelligence, cohort analysis, and regional breakdowns in Power BI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B1D2"/>
                </a:solidFill>
              </a:rPr>
              <a:t>RFM ANALYSIS — CUSTOMER SCORING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51760" cy="2743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EB1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868680"/>
            <a:ext cx="731520" cy="731520"/>
          </a:xfrm>
          <a:prstGeom prst="ellipse">
            <a:avLst/>
          </a:prstGeom>
          <a:solidFill>
            <a:srgbClr val="0EB1D2"/>
          </a:solidFill>
          <a:ln w="12700">
            <a:solidFill>
              <a:srgbClr val="0EB1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868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628"/>
                </a:solidFill>
              </a:rPr>
              <a:t>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B1D2"/>
                </a:solidFill>
              </a:rPr>
              <a:t>Recency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C9EBF5"/>
                </a:solidFill>
              </a:rPr>
              <a:t>Days since last purchase. Scored 5 (most recent) → 1 (oldest) using quantile ranking.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777240"/>
            <a:ext cx="2651760" cy="2743200"/>
          </a:xfrm>
          <a:prstGeom prst="rect">
            <a:avLst/>
          </a:prstGeom>
          <a:solidFill>
            <a:srgbClr val="0D2137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0" y="868680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868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628"/>
                </a:solidFill>
              </a:rPr>
              <a:t>F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154680" y="17190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</a:rPr>
              <a:t>Frequency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221284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C9EBF5"/>
                </a:solidFill>
              </a:rPr>
              <a:t>Count of distinct invoices per customer. Scored 1 → 5 (highest frequency = 5).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777240"/>
            <a:ext cx="2651760" cy="2743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49440" y="868680"/>
            <a:ext cx="731520" cy="7315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868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628"/>
                </a:solidFill>
              </a:rPr>
              <a:t>M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989320" y="17190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</a:rPr>
              <a:t>Monetary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26480" y="2212848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C9EBF5"/>
                </a:solidFill>
              </a:rPr>
              <a:t>Total revenue per customer. Scored 1 → 5 (highest spend = 5) via qcut ranking.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703320"/>
            <a:ext cx="8503920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767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</a:rPr>
              <a:t>Combined RFM Score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1330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EBF5"/>
                </a:solidFill>
              </a:rPr>
              <a:t>RFM_Score = R_Score + F_Score + M_Score  (e.g. 554 = Champion,  112 = At-Risk)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FB3C8"/>
                </a:solidFill>
              </a:rPr>
              <a:t>Scoring method: pd.qcut() with rank(method='first') to break ties — all scores on a 1–5 quantile scale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B1D2"/>
                </a:solidFill>
              </a:rPr>
              <a:t>CUSTOMER SEGMENTATION RESULTS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73152" cy="1572768"/>
          </a:xfrm>
          <a:prstGeom prst="rect">
            <a:avLst/>
          </a:prstGeom>
          <a:solidFill>
            <a:srgbClr val="0EB1D2"/>
          </a:solidFill>
          <a:ln w="12700">
            <a:solidFill>
              <a:srgbClr val="0EB1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Champion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B1D2"/>
                </a:solidFill>
              </a:rPr>
              <a:t>22.97% of customers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179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Avg Spend: ₹3.53K  |  Criteria: R ≥ 4  &amp;  F ≥ 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</a:rPr>
              <a:t>Most valuable tier. High recency + frequency. Priority for VIP loyalty programs.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542032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542032"/>
            <a:ext cx="73152" cy="15727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151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Potential Loyalist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9992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16.96% of customers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3101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Avg Spend: Mid  |  Criteria: R or F ≥ 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62102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</a:rPr>
              <a:t>Rising customers. Target with frequency-driving promotions to accelerate upgrade.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749808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749808"/>
            <a:ext cx="73152" cy="15727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822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Loyal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12070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13.07% of customers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15179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Avg Spend: Mid  |  Criteria: F ≥ 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1828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</a:rPr>
              <a:t>High frequency but recency may lag. Engage with win-back touch-points.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542032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542032"/>
            <a:ext cx="73152" cy="1572768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6151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Hibernating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29992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24A"/>
                </a:solidFill>
              </a:rPr>
              <a:t>47.00% of customers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3101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Avg Spend: Low  |  Criteria: R ≤ 2  &amp;  F ≤ 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362102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</a:rPr>
              <a:t>Largest segment — critical churn exposure. Immediate win-back campaign needed.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315968"/>
            <a:ext cx="859536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43159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724A"/>
                </a:solidFill>
              </a:rPr>
              <a:t>⚠  Hibernating customers (47%) represent the #1 churn risk — largest segment by volume, lowest by spend.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B1D2"/>
                </a:solidFill>
              </a:rPr>
              <a:t>MARKET BASKET ANALYSIS — APRIORI ALGORITHM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406908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</a:rPr>
              <a:t>How It Works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52728"/>
            <a:ext cx="50292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EBF5"/>
                </a:solidFill>
              </a:rPr>
              <a:t>1.  Create a binary basket matrix — rows = invoices, cols = products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95681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EBF5"/>
                </a:solidFill>
              </a:rPr>
              <a:t>2.  Run Apriori with min_support = 0.02 to find frequent itemsets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EBF5"/>
                </a:solidFill>
              </a:rPr>
              <a:t>3.  Generate association rules with lift ≥ 1.2 threshold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0906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EBF5"/>
                </a:solidFill>
              </a:rPr>
              <a:t>4.  Rank rules by confidence to surface highest-reliability pairs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EBF5"/>
                </a:solidFill>
              </a:rPr>
              <a:t>5.  Export Rules.csv → Power BI Rules Analysis dashboard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822960"/>
            <a:ext cx="205740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EB1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0515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EB1D2"/>
                </a:solidFill>
              </a:rPr>
              <a:t>234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0" y="1783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9EBF5"/>
                </a:solidFill>
              </a:rPr>
              <a:t>Total Rules Generated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651760"/>
            <a:ext cx="205740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28803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</a:rPr>
              <a:t>27.15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572000" y="3611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9EBF5"/>
                </a:solidFill>
              </a:rPr>
              <a:t>Maximum Lift Score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822960"/>
            <a:ext cx="205740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10515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</a:rPr>
              <a:t>0.43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903720" y="1783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9EBF5"/>
                </a:solidFill>
              </a:rPr>
              <a:t>Avg Confidence Score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03720" y="2651760"/>
            <a:ext cx="205740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E872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03720" y="28803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724A"/>
                </a:solidFill>
              </a:rPr>
              <a:t>26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903720" y="3611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9EBF5"/>
                </a:solidFill>
              </a:rPr>
              <a:t>High Confidence Rules (≥0.70)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4343400"/>
            <a:ext cx="443484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4370832"/>
            <a:ext cx="4343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EBF5"/>
                </a:solidFill>
              </a:rPr>
              <a:t>Confidence Distribution:  Very Strong ≥0.70 → 47.4%  |  Strong ≥0.50 → 35.7%  |  Moderate ≥0.30 → 16.9%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B1D2"/>
                </a:solidFill>
              </a:rPr>
              <a:t>POWER BI — TWO-PAGE INTERACTIVE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6052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 1 — Sales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▸  </a:t>
            </a:r>
            <a:r>
              <a:rPr lang="en-US" sz="1100" dirty="0">
                <a:solidFill>
                  <a:srgbClr val="334155"/>
                </a:solidFill>
              </a:rPr>
              <a:t>KPI Cards: Revenue 998.14K · Customers 283 · AOV 2.97K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▸  </a:t>
            </a:r>
            <a:r>
              <a:rPr lang="en-US" sz="1100" dirty="0">
                <a:solidFill>
                  <a:srgbClr val="334155"/>
                </a:solidFill>
              </a:rPr>
              <a:t>Revenue by Day — Line chart (daily fluctuations)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▸  </a:t>
            </a:r>
            <a:r>
              <a:rPr lang="en-US" sz="1100" dirty="0">
                <a:solidFill>
                  <a:srgbClr val="334155"/>
                </a:solidFill>
              </a:rPr>
              <a:t>Revenue by Segment — Stacked bar (4 tiers)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▸  </a:t>
            </a:r>
            <a:r>
              <a:rPr lang="en-US" sz="1100" dirty="0">
                <a:solidFill>
                  <a:srgbClr val="334155"/>
                </a:solidFill>
              </a:rPr>
              <a:t>Revenue by Country — Donut (UK dominant)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▸  </a:t>
            </a:r>
            <a:r>
              <a:rPr lang="en-US" sz="1100" dirty="0">
                <a:solidFill>
                  <a:srgbClr val="334155"/>
                </a:solidFill>
              </a:rPr>
              <a:t>Top 10 Products — Horizontal bar chart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56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▸  </a:t>
            </a:r>
            <a:r>
              <a:rPr lang="en-US" sz="1100" dirty="0">
                <a:solidFill>
                  <a:srgbClr val="334155"/>
                </a:solidFill>
              </a:rPr>
              <a:t>RFM Score Table — Customer-level detail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8770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▸  </a:t>
            </a:r>
            <a:r>
              <a:rPr lang="en-US" sz="1100" dirty="0">
                <a:solidFill>
                  <a:srgbClr val="334155"/>
                </a:solidFill>
              </a:rPr>
              <a:t>Segment Distribution — Pie chart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777240"/>
            <a:ext cx="41605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777240"/>
            <a:ext cx="41605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7772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 2 — Rules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353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▸  </a:t>
            </a:r>
            <a:r>
              <a:rPr lang="en-US" sz="1100" dirty="0">
                <a:solidFill>
                  <a:srgbClr val="334155"/>
                </a:solidFill>
              </a:rPr>
              <a:t>KPI Cards: 234 Rules · Lift 27.15 · Confidence 0.43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7739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▸  </a:t>
            </a:r>
            <a:r>
              <a:rPr lang="en-US" sz="1100" dirty="0">
                <a:solidFill>
                  <a:srgbClr val="334155"/>
                </a:solidFill>
              </a:rPr>
              <a:t>Rules Table — Antecedents → Consequents ranked by lift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194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▸  </a:t>
            </a:r>
            <a:r>
              <a:rPr lang="en-US" sz="1100" dirty="0">
                <a:solidFill>
                  <a:srgbClr val="334155"/>
                </a:solidFill>
              </a:rPr>
              <a:t>Lift by Antecedent — Bar chart (trigger products)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6151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▸  </a:t>
            </a:r>
            <a:r>
              <a:rPr lang="en-US" sz="1100" dirty="0">
                <a:solidFill>
                  <a:srgbClr val="334155"/>
                </a:solidFill>
              </a:rPr>
              <a:t>Confidence by Consequent — Bar chart (cross-sell targets)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035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▸  </a:t>
            </a:r>
            <a:r>
              <a:rPr lang="en-US" sz="1100" dirty="0">
                <a:solidFill>
                  <a:srgbClr val="334155"/>
                </a:solidFill>
              </a:rPr>
              <a:t>Confidence Band — Donut (Very Strong / Strong / Moderate)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4564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▸  </a:t>
            </a:r>
            <a:r>
              <a:rPr lang="en-US" sz="1100" dirty="0">
                <a:solidFill>
                  <a:srgbClr val="334155"/>
                </a:solidFill>
              </a:rPr>
              <a:t>Lift vs. Confidence Scatter — Sweet-spot identification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8770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▸  </a:t>
            </a:r>
            <a:r>
              <a:rPr lang="en-US" sz="1100" dirty="0">
                <a:solidFill>
                  <a:srgbClr val="334155"/>
                </a:solidFill>
              </a:rPr>
              <a:t>Slicers: Country · Product · Segment · RFM Score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B1D2"/>
                </a:solidFill>
              </a:rPr>
              <a:t>KEY FINDINGS &amp; BUSINESS IMPACT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572768"/>
          </a:xfrm>
          <a:prstGeom prst="rect">
            <a:avLst/>
          </a:prstGeom>
          <a:solidFill>
            <a:srgbClr val="0D2137"/>
          </a:solidFill>
          <a:ln w="12700">
            <a:solidFill>
              <a:srgbClr val="0EB1D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73152" cy="1572768"/>
          </a:xfrm>
          <a:prstGeom prst="rect">
            <a:avLst/>
          </a:prstGeom>
          <a:solidFill>
            <a:srgbClr val="0EB1D2"/>
          </a:solidFill>
          <a:ln w="12700">
            <a:solidFill>
              <a:srgbClr val="0EB1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14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B1D2"/>
                </a:solidFill>
              </a:rPr>
              <a:t>998.14K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75488" y="14904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Total Revenue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8562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FB3C8"/>
                </a:solidFill>
              </a:rPr>
              <a:t>Across 10,000 transactions, 283 customers, 336 invoices — AOV of 2.97K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633472"/>
            <a:ext cx="4206240" cy="1572768"/>
          </a:xfrm>
          <a:prstGeom prst="rect">
            <a:avLst/>
          </a:prstGeom>
          <a:solidFill>
            <a:srgbClr val="0D2137"/>
          </a:solidFill>
          <a:ln w="12700">
            <a:solidFill>
              <a:srgbClr val="E872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633472"/>
            <a:ext cx="73152" cy="1572768"/>
          </a:xfrm>
          <a:prstGeom prst="rect">
            <a:avLst/>
          </a:prstGeom>
          <a:solidFill>
            <a:srgbClr val="E8724A"/>
          </a:solidFill>
          <a:ln w="12700">
            <a:solidFill>
              <a:srgbClr val="E87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7706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24A"/>
                </a:solidFill>
              </a:rPr>
              <a:t>47%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" y="33467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Hibernating Customers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37124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FB3C8"/>
                </a:solidFill>
              </a:rPr>
              <a:t>Largest single segment — critical churn exposure requiring immediate win-back campaigns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777240"/>
            <a:ext cx="4206240" cy="1572768"/>
          </a:xfrm>
          <a:prstGeom prst="rect">
            <a:avLst/>
          </a:prstGeom>
          <a:solidFill>
            <a:srgbClr val="0D2137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777240"/>
            <a:ext cx="73152" cy="15727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914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</a:rPr>
              <a:t>22.97%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956048" y="14904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Champion Customers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56048" y="18562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FB3C8"/>
                </a:solidFill>
              </a:rPr>
              <a:t>3.53K avg spend — statistically validated as top LTV tier, UK market dominant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633472"/>
            <a:ext cx="4206240" cy="1572768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633472"/>
            <a:ext cx="73152" cy="15727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7706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</a:rPr>
              <a:t>27.15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956048" y="33467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Max Lift Score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6048" y="37124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FB3C8"/>
                </a:solidFill>
              </a:rPr>
              <a:t>234 rules generated; 26 high-confidence rules (≥0.70) ready for bundle campaigns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FB3C8"/>
                </a:solidFill>
              </a:rPr>
              <a:t>Pipeline automation ensures zero-touch scheduled execution — report generation requires no manual intervention.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65760"/>
            <a:ext cx="91440" cy="91440"/>
          </a:xfrm>
          <a:prstGeom prst="ellipse">
            <a:avLst/>
          </a:prstGeom>
          <a:solidFill>
            <a:srgbClr val="0EB1D2">
              <a:alpha val="45000"/>
            </a:srgbClr>
          </a:solidFill>
          <a:ln w="12700">
            <a:solidFill>
              <a:srgbClr val="0EB1D2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65760"/>
            <a:ext cx="91440" cy="91440"/>
          </a:xfrm>
          <a:prstGeom prst="ellipse">
            <a:avLst/>
          </a:prstGeom>
          <a:solidFill>
            <a:srgbClr val="0EB1D2">
              <a:alpha val="45000"/>
            </a:srgbClr>
          </a:solidFill>
          <a:ln w="12700">
            <a:solidFill>
              <a:srgbClr val="0EB1D2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365760"/>
            <a:ext cx="91440" cy="91440"/>
          </a:xfrm>
          <a:prstGeom prst="ellipse">
            <a:avLst/>
          </a:prstGeom>
          <a:solidFill>
            <a:srgbClr val="0EB1D2">
              <a:alpha val="45000"/>
            </a:srgbClr>
          </a:solidFill>
          <a:ln w="12700">
            <a:solidFill>
              <a:srgbClr val="0EB1D2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365760"/>
            <a:ext cx="91440" cy="91440"/>
          </a:xfrm>
          <a:prstGeom prst="ellipse">
            <a:avLst/>
          </a:prstGeom>
          <a:solidFill>
            <a:srgbClr val="0EB1D2">
              <a:alpha val="45000"/>
            </a:srgbClr>
          </a:solidFill>
          <a:ln w="12700">
            <a:solidFill>
              <a:srgbClr val="0EB1D2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914400"/>
            <a:ext cx="91440" cy="91440"/>
          </a:xfrm>
          <a:prstGeom prst="ellipse">
            <a:avLst/>
          </a:prstGeom>
          <a:solidFill>
            <a:srgbClr val="0EB1D2">
              <a:alpha val="45000"/>
            </a:srgbClr>
          </a:solidFill>
          <a:ln w="12700">
            <a:solidFill>
              <a:srgbClr val="0EB1D2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914400"/>
            <a:ext cx="91440" cy="91440"/>
          </a:xfrm>
          <a:prstGeom prst="ellipse">
            <a:avLst/>
          </a:prstGeom>
          <a:solidFill>
            <a:srgbClr val="0EB1D2">
              <a:alpha val="45000"/>
            </a:srgbClr>
          </a:solidFill>
          <a:ln w="12700">
            <a:solidFill>
              <a:srgbClr val="0EB1D2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914400"/>
            <a:ext cx="91440" cy="91440"/>
          </a:xfrm>
          <a:prstGeom prst="ellipse">
            <a:avLst/>
          </a:prstGeom>
          <a:solidFill>
            <a:srgbClr val="0EB1D2">
              <a:alpha val="45000"/>
            </a:srgbClr>
          </a:solidFill>
          <a:ln w="12700">
            <a:solidFill>
              <a:srgbClr val="0EB1D2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914400"/>
            <a:ext cx="91440" cy="91440"/>
          </a:xfrm>
          <a:prstGeom prst="ellipse">
            <a:avLst/>
          </a:prstGeom>
          <a:solidFill>
            <a:srgbClr val="0EB1D2">
              <a:alpha val="45000"/>
            </a:srgbClr>
          </a:solidFill>
          <a:ln w="12700">
            <a:solidFill>
              <a:srgbClr val="0EB1D2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463040"/>
            <a:ext cx="91440" cy="91440"/>
          </a:xfrm>
          <a:prstGeom prst="ellipse">
            <a:avLst/>
          </a:prstGeom>
          <a:solidFill>
            <a:srgbClr val="0EB1D2">
              <a:alpha val="45000"/>
            </a:srgbClr>
          </a:solidFill>
          <a:ln w="12700">
            <a:solidFill>
              <a:srgbClr val="0EB1D2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1463040"/>
            <a:ext cx="91440" cy="91440"/>
          </a:xfrm>
          <a:prstGeom prst="ellipse">
            <a:avLst/>
          </a:prstGeom>
          <a:solidFill>
            <a:srgbClr val="0EB1D2">
              <a:alpha val="45000"/>
            </a:srgbClr>
          </a:solidFill>
          <a:ln w="12700">
            <a:solidFill>
              <a:srgbClr val="0EB1D2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1463040"/>
            <a:ext cx="91440" cy="91440"/>
          </a:xfrm>
          <a:prstGeom prst="ellipse">
            <a:avLst/>
          </a:prstGeom>
          <a:solidFill>
            <a:srgbClr val="0EB1D2">
              <a:alpha val="45000"/>
            </a:srgbClr>
          </a:solidFill>
          <a:ln w="12700">
            <a:solidFill>
              <a:srgbClr val="0EB1D2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463040"/>
            <a:ext cx="91440" cy="91440"/>
          </a:xfrm>
          <a:prstGeom prst="ellipse">
            <a:avLst/>
          </a:prstGeom>
          <a:solidFill>
            <a:srgbClr val="0EB1D2">
              <a:alpha val="45000"/>
            </a:srgbClr>
          </a:solidFill>
          <a:ln w="12700">
            <a:solidFill>
              <a:srgbClr val="0EB1D2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914400"/>
            <a:ext cx="2011680" cy="54864"/>
          </a:xfrm>
          <a:prstGeom prst="rect">
            <a:avLst/>
          </a:prstGeom>
          <a:solidFill>
            <a:srgbClr val="0EB1D2"/>
          </a:solidFill>
          <a:ln w="12700">
            <a:solidFill>
              <a:srgbClr val="0EB1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65760" y="1097279"/>
            <a:ext cx="5486400" cy="362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C9EBF5"/>
                </a:solidFill>
              </a:rPr>
              <a:t>Consumer360 demonstrates a complete, production-grade data analytics workflow — from raw transactional ingestion through a Star Schema warehouse, to Python-powered RFM segmentation and Market Basket Analysis, to a polished two-page Power BI dashboard.</a:t>
            </a:r>
            <a:endParaRPr lang="en-US" sz="1300" dirty="0"/>
          </a:p>
          <a:p>
            <a:pPr marL="0" indent="0">
              <a:lnSpc>
                <a:spcPct val="155000"/>
              </a:lnSpc>
              <a:buNone/>
            </a:pPr>
            <a:endParaRPr lang="en-US" sz="13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C9EBF5"/>
                </a:solidFill>
              </a:rPr>
              <a:t>The project delivers three immediate business actions:</a:t>
            </a:r>
            <a:endParaRPr lang="en-US" sz="1300" dirty="0"/>
          </a:p>
          <a:p>
            <a:pPr marL="0" indent="0">
              <a:lnSpc>
                <a:spcPct val="155000"/>
              </a:lnSpc>
              <a:buNone/>
            </a:pPr>
            <a:endParaRPr lang="en-US" sz="13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C9EBF5"/>
                </a:solidFill>
              </a:rPr>
              <a:t>→  Win-back campaigns for 47% Hibernating base</a:t>
            </a:r>
            <a:endParaRPr lang="en-US" sz="13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C9EBF5"/>
                </a:solidFill>
              </a:rPr>
              <a:t>→  Cross-sell bundles from 26 high-confidence rules</a:t>
            </a:r>
            <a:endParaRPr lang="en-US" sz="13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C9EBF5"/>
                </a:solidFill>
              </a:rPr>
              <a:t>→  VIP loyalty programs targeting 22.97% Champion tier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980</Words>
  <Application>Microsoft Office PowerPoint</Application>
  <PresentationFormat>On-screen Show (16:9)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Consumer360 — Retail Customer Segmentation &amp; Market Basket Analysis</dc:title>
  <dc:subject>PptxGenJS Presentation</dc:subject>
  <dc:creator>Abhisek Nayak</dc:creator>
  <cp:lastModifiedBy>Abhisek Nayak</cp:lastModifiedBy>
  <cp:revision>3</cp:revision>
  <dcterms:created xsi:type="dcterms:W3CDTF">2026-03-10T16:52:11Z</dcterms:created>
  <dcterms:modified xsi:type="dcterms:W3CDTF">2026-04-10T14:08:32Z</dcterms:modified>
</cp:coreProperties>
</file>